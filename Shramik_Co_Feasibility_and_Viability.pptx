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182880"/>
            <a:ext cx="1737360" cy="50292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6366F1"/>
                </a:solidFill>
                <a:latin typeface="Kohinoor Devanagari"/>
              </a:defRPr>
            </a:pPr>
            <a:r>
              <a:t>सर्वकर्मक्षमः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03120" y="137160"/>
            <a:ext cx="79552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11827"/>
                </a:solidFill>
                <a:latin typeface="Georgia"/>
              </a:defRPr>
            </a:pPr>
            <a:r>
              <a:t>FEASIBILITY AND VIABILITY</a:t>
            </a:r>
          </a:p>
        </p:txBody>
      </p:sp>
      <p:pic>
        <p:nvPicPr>
          <p:cNvPr id="4" name="Picture 3" descr="sih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09728"/>
            <a:ext cx="1645920" cy="65836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65760" y="868680"/>
            <a:ext cx="3749039" cy="571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868680"/>
            <a:ext cx="3749039" cy="384048"/>
          </a:xfrm>
          <a:prstGeom prst="roundRect">
            <a:avLst/>
          </a:prstGeom>
          <a:solidFill>
            <a:srgbClr val="0062B1"/>
          </a:solidFill>
          <a:ln>
            <a:solidFill>
              <a:srgbClr val="006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Financials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325880"/>
            <a:ext cx="850392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402336"/>
          <a:lstStyle/>
          <a:p>
            <a:pPr algn="ctr">
              <a:defRPr sz="819" b="1">
                <a:solidFill>
                  <a:srgbClr val="111827"/>
                </a:solidFill>
                <a:latin typeface="Arial"/>
              </a:defRPr>
            </a:pPr>
            <a:r>
              <a:t>Commission</a:t>
            </a:r>
          </a:p>
          <a:p>
            <a:pPr algn="ctr">
              <a:defRPr sz="720" b="1">
                <a:solidFill>
                  <a:srgbClr val="0062B1"/>
                </a:solidFill>
                <a:latin typeface="Arial"/>
              </a:defRPr>
            </a:pPr>
            <a:r>
              <a:t>0% – 5% Fee</a:t>
            </a:r>
          </a:p>
          <a:p>
            <a:pPr algn="ctr">
              <a:defRPr sz="620">
                <a:solidFill>
                  <a:srgbClr val="64748B"/>
                </a:solidFill>
                <a:latin typeface="Arial"/>
              </a:defRPr>
            </a:pPr>
            <a:r>
              <a:t>Escrow held</a:t>
            </a:r>
          </a:p>
        </p:txBody>
      </p:sp>
      <p:pic>
        <p:nvPicPr>
          <p:cNvPr id="8" name="Picture 7" descr="commis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1399032"/>
            <a:ext cx="292608" cy="29260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344168" y="1325880"/>
            <a:ext cx="850392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402336"/>
          <a:lstStyle/>
          <a:p>
            <a:pPr algn="ctr">
              <a:defRPr sz="819" b="1">
                <a:solidFill>
                  <a:srgbClr val="111827"/>
                </a:solidFill>
                <a:latin typeface="Arial"/>
              </a:defRPr>
            </a:pPr>
            <a:r>
              <a:t>Co-op Store</a:t>
            </a:r>
          </a:p>
          <a:p>
            <a:pPr algn="ctr">
              <a:defRPr sz="720" b="1">
                <a:solidFill>
                  <a:srgbClr val="0062B1"/>
                </a:solidFill>
                <a:latin typeface="Arial"/>
              </a:defRPr>
            </a:pPr>
            <a:r>
              <a:t>Tool Margin</a:t>
            </a:r>
          </a:p>
          <a:p>
            <a:pPr algn="ctr">
              <a:defRPr sz="620">
                <a:solidFill>
                  <a:srgbClr val="64748B"/>
                </a:solidFill>
                <a:latin typeface="Arial"/>
              </a:defRPr>
            </a:pPr>
            <a:r>
              <a:t>20-30% Trade cut</a:t>
            </a:r>
          </a:p>
        </p:txBody>
      </p:sp>
      <p:pic>
        <p:nvPicPr>
          <p:cNvPr id="10" name="Picture 9" descr="sto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7632" y="1399032"/>
            <a:ext cx="292608" cy="29260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2249424" y="1325880"/>
            <a:ext cx="850392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402336"/>
          <a:lstStyle/>
          <a:p>
            <a:pPr algn="ctr">
              <a:defRPr sz="819" b="1">
                <a:solidFill>
                  <a:srgbClr val="111827"/>
                </a:solidFill>
                <a:latin typeface="Arial"/>
              </a:defRPr>
            </a:pPr>
            <a:r>
              <a:t>B2B AMC</a:t>
            </a:r>
          </a:p>
          <a:p>
            <a:pPr algn="ctr">
              <a:defRPr sz="720" b="1">
                <a:solidFill>
                  <a:srgbClr val="0062B1"/>
                </a:solidFill>
                <a:latin typeface="Arial"/>
              </a:defRPr>
            </a:pPr>
            <a:r>
              <a:t>Society Pacts</a:t>
            </a:r>
          </a:p>
          <a:p>
            <a:pPr algn="ctr">
              <a:defRPr sz="620">
                <a:solidFill>
                  <a:srgbClr val="64748B"/>
                </a:solidFill>
                <a:latin typeface="Arial"/>
              </a:defRPr>
            </a:pPr>
            <a:r>
              <a:t>Fixed contracts</a:t>
            </a:r>
          </a:p>
        </p:txBody>
      </p:sp>
      <p:pic>
        <p:nvPicPr>
          <p:cNvPr id="12" name="Picture 11" descr="b2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2888" y="1399032"/>
            <a:ext cx="292608" cy="29260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154680" y="1325880"/>
            <a:ext cx="850392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402336"/>
          <a:lstStyle/>
          <a:p>
            <a:pPr algn="ctr">
              <a:defRPr sz="819" b="1">
                <a:solidFill>
                  <a:srgbClr val="111827"/>
                </a:solidFill>
                <a:latin typeface="Arial"/>
              </a:defRPr>
            </a:pPr>
            <a:r>
              <a:t>Govt Grants</a:t>
            </a:r>
          </a:p>
          <a:p>
            <a:pPr algn="ctr">
              <a:defRPr sz="720" b="1">
                <a:solidFill>
                  <a:srgbClr val="0062B1"/>
                </a:solidFill>
                <a:latin typeface="Arial"/>
              </a:defRPr>
            </a:pPr>
            <a:r>
              <a:t>Welfare Pool</a:t>
            </a:r>
          </a:p>
          <a:p>
            <a:pPr algn="ctr">
              <a:defRPr sz="620">
                <a:solidFill>
                  <a:srgbClr val="64748B"/>
                </a:solidFill>
                <a:latin typeface="Arial"/>
              </a:defRPr>
            </a:pPr>
            <a:r>
              <a:t>Sahakar funds</a:t>
            </a:r>
          </a:p>
        </p:txBody>
      </p:sp>
      <p:pic>
        <p:nvPicPr>
          <p:cNvPr id="14" name="Picture 13" descr="gra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8144" y="1399032"/>
            <a:ext cx="292608" cy="29260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1234440" y="2450592"/>
            <a:ext cx="20116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36576" tIns="27432"/>
          <a:lstStyle/>
          <a:p>
            <a:pPr algn="ctr">
              <a:defRPr sz="740" b="1">
                <a:solidFill>
                  <a:srgbClr val="111827"/>
                </a:solidFill>
                <a:latin typeface="Arial"/>
              </a:defRPr>
            </a:pPr>
            <a:r>
              <a:t>Others: Compliance (9%) </a:t>
            </a:r>
            <a:r>
              <a:rPr sz="740" b="1">
                <a:solidFill>
                  <a:srgbClr val="10B981"/>
                </a:solidFill>
              </a:rPr>
              <a:t>₹35K - ₹40K</a:t>
            </a:r>
          </a:p>
          <a:p>
            <a:pPr>
              <a:defRPr sz="620">
                <a:solidFill>
                  <a:srgbClr val="64748B"/>
                </a:solidFill>
                <a:latin typeface="Arial"/>
              </a:defRPr>
            </a:pPr>
            <a:r>
              <a:t>Bylaws | Grievance | Audit | Legal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71016" y="2505456"/>
            <a:ext cx="45720" cy="393192"/>
          </a:xfrm>
          <a:prstGeom prst="roundRect">
            <a:avLst/>
          </a:prstGeom>
          <a:solidFill>
            <a:srgbClr val="8A2BE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8912" y="3017520"/>
            <a:ext cx="1719072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36576" tIns="27432"/>
          <a:lstStyle/>
          <a:p>
            <a:pPr algn="ctr">
              <a:defRPr sz="740" b="1">
                <a:solidFill>
                  <a:srgbClr val="111827"/>
                </a:solidFill>
                <a:latin typeface="Arial"/>
              </a:defRPr>
            </a:pPr>
            <a:r>
              <a:t>Tech &amp; Security (22%) </a:t>
            </a:r>
            <a:r>
              <a:rPr sz="740" b="1">
                <a:solidFill>
                  <a:srgbClr val="10B981"/>
                </a:solidFill>
              </a:rPr>
              <a:t>₹70K - ₹80K</a:t>
            </a:r>
          </a:p>
          <a:p>
            <a:pPr>
              <a:defRPr sz="620">
                <a:solidFill>
                  <a:srgbClr val="64748B"/>
                </a:solidFill>
                <a:latin typeface="Arial"/>
              </a:defRPr>
            </a:pPr>
            <a:r>
              <a:t>PWA app | Security audits | Testing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" y="3072384"/>
            <a:ext cx="45720" cy="457200"/>
          </a:xfrm>
          <a:prstGeom prst="roundRect">
            <a:avLst/>
          </a:prstGeom>
          <a:solidFill>
            <a:srgbClr val="FF2A6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249424" y="3017520"/>
            <a:ext cx="17830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36576" tIns="27432"/>
          <a:lstStyle/>
          <a:p>
            <a:pPr algn="ctr">
              <a:defRPr sz="740" b="1">
                <a:solidFill>
                  <a:srgbClr val="111827"/>
                </a:solidFill>
                <a:latin typeface="Arial"/>
              </a:defRPr>
            </a:pPr>
            <a:r>
              <a:t>Co-op Onboarding (36%) </a:t>
            </a:r>
            <a:r>
              <a:rPr sz="740" b="1">
                <a:solidFill>
                  <a:srgbClr val="10B981"/>
                </a:solidFill>
              </a:rPr>
              <a:t>₹1.2L - ₹1.4L</a:t>
            </a:r>
          </a:p>
          <a:p>
            <a:pPr>
              <a:defRPr sz="620">
                <a:solidFill>
                  <a:srgbClr val="64748B"/>
                </a:solidFill>
                <a:latin typeface="Arial"/>
              </a:defRPr>
            </a:pPr>
            <a:r>
              <a:t>Field onboarding | Skill Testing | KYC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0" y="3072384"/>
            <a:ext cx="45720" cy="457200"/>
          </a:xfrm>
          <a:prstGeom prst="roundRect">
            <a:avLst/>
          </a:prstGeom>
          <a:solidFill>
            <a:srgbClr val="0077F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8912" y="3657600"/>
            <a:ext cx="1719072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36576" tIns="27432"/>
          <a:lstStyle/>
          <a:p>
            <a:pPr algn="ctr">
              <a:defRPr sz="740" b="1">
                <a:solidFill>
                  <a:srgbClr val="111827"/>
                </a:solidFill>
                <a:latin typeface="Arial"/>
              </a:defRPr>
            </a:pPr>
            <a:r>
              <a:t>Verification &amp; SMS (14%) </a:t>
            </a:r>
            <a:r>
              <a:rPr sz="740" b="1">
                <a:solidFill>
                  <a:srgbClr val="10B981"/>
                </a:solidFill>
              </a:rPr>
              <a:t>₹45K - ₹55K</a:t>
            </a:r>
          </a:p>
          <a:p>
            <a:pPr>
              <a:defRPr sz="620">
                <a:solidFill>
                  <a:srgbClr val="64748B"/>
                </a:solidFill>
                <a:latin typeface="Arial"/>
              </a:defRPr>
            </a:pPr>
            <a:r>
              <a:t>UIDAI QR | 2Factor SMS | SSL APIs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712464"/>
            <a:ext cx="45720" cy="457200"/>
          </a:xfrm>
          <a:prstGeom prst="roundRect">
            <a:avLst/>
          </a:prstGeom>
          <a:solidFill>
            <a:srgbClr val="05C77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249424" y="3657600"/>
            <a:ext cx="17830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36576" tIns="27432"/>
          <a:lstStyle/>
          <a:p>
            <a:pPr algn="ctr">
              <a:defRPr sz="740" b="1">
                <a:solidFill>
                  <a:srgbClr val="111827"/>
                </a:solidFill>
                <a:latin typeface="Arial"/>
              </a:defRPr>
            </a:pPr>
            <a:r>
              <a:t>Cloud &amp; DB (19%) </a:t>
            </a:r>
            <a:r>
              <a:rPr sz="740" b="1">
                <a:solidFill>
                  <a:srgbClr val="10B981"/>
                </a:solidFill>
              </a:rPr>
              <a:t>₹60K - ₹75K</a:t>
            </a:r>
          </a:p>
          <a:p>
            <a:pPr>
              <a:defRPr sz="620">
                <a:solidFill>
                  <a:srgbClr val="64748B"/>
                </a:solidFill>
                <a:latin typeface="Arial"/>
              </a:defRPr>
            </a:pPr>
            <a:r>
              <a:t>Supabase | Render | Redis | CDN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86000" y="3712464"/>
            <a:ext cx="45720" cy="457200"/>
          </a:xfrm>
          <a:prstGeom prst="roundRect">
            <a:avLst/>
          </a:prstGeom>
          <a:solidFill>
            <a:srgbClr val="FF8C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financials_pi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4370832"/>
            <a:ext cx="3291840" cy="2148840"/>
          </a:xfrm>
          <a:prstGeom prst="rect">
            <a:avLst/>
          </a:prstGeom>
        </p:spPr>
      </p:pic>
      <p:cxnSp>
        <p:nvCxnSpPr>
          <p:cNvPr id="26" name="Connector 25"/>
          <p:cNvCxnSpPr/>
          <p:nvPr/>
        </p:nvCxnSpPr>
        <p:spPr>
          <a:xfrm flipV="1">
            <a:off x="2240280" y="2971800"/>
            <a:ext cx="0" cy="1371600"/>
          </a:xfrm>
          <a:prstGeom prst="line">
            <a:avLst/>
          </a:prstGeom>
          <a:ln w="127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1280160" y="4251960"/>
            <a:ext cx="91440" cy="502920"/>
          </a:xfrm>
          <a:prstGeom prst="line">
            <a:avLst/>
          </a:prstGeom>
          <a:ln w="127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017520" y="4251960"/>
            <a:ext cx="91440" cy="502920"/>
          </a:xfrm>
          <a:prstGeom prst="line">
            <a:avLst/>
          </a:prstGeom>
          <a:ln w="127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251960" y="868680"/>
            <a:ext cx="3730752" cy="3063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251960" y="868680"/>
            <a:ext cx="3730752" cy="384048"/>
          </a:xfrm>
          <a:prstGeom prst="roundRect">
            <a:avLst/>
          </a:prstGeom>
          <a:solidFill>
            <a:srgbClr val="0062B1"/>
          </a:solidFill>
          <a:ln>
            <a:solidFill>
              <a:srgbClr val="006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Feasibility</a:t>
            </a:r>
          </a:p>
        </p:txBody>
      </p:sp>
      <p:pic>
        <p:nvPicPr>
          <p:cNvPr id="31" name="Picture 30" descr="pw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70832" y="1335024"/>
            <a:ext cx="384048" cy="38404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828032" y="1298448"/>
            <a:ext cx="306324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>
                <a:solidFill>
                  <a:srgbClr val="111827"/>
                </a:solidFill>
                <a:latin typeface="Arial"/>
              </a:rPr>
              <a:t>Full-Stack PWA + FastAPI</a:t>
            </a:r>
            <a:r>
              <a:rPr sz="819">
                <a:solidFill>
                  <a:srgbClr val="111827"/>
                </a:solidFill>
                <a:latin typeface="Arial"/>
              </a:rPr>
              <a:t> built on Next.js 14 &amp; Python. Bypasses </a:t>
            </a:r>
            <a:r>
              <a:rPr sz="850" b="1">
                <a:solidFill>
                  <a:srgbClr val="111827"/>
                </a:solidFill>
                <a:latin typeface="Arial"/>
              </a:rPr>
              <a:t>30% App Store cuts</a:t>
            </a:r>
            <a:r>
              <a:rPr sz="819">
                <a:solidFill>
                  <a:srgbClr val="111827"/>
                </a:solidFill>
                <a:latin typeface="Arial"/>
              </a:rPr>
              <a:t>; lightweight and offline-cached for low-end ₹6,000 devices.</a:t>
            </a:r>
          </a:p>
        </p:txBody>
      </p:sp>
      <p:pic>
        <p:nvPicPr>
          <p:cNvPr id="33" name="Picture 32" descr="ma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70832" y="1947672"/>
            <a:ext cx="384048" cy="38404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828032" y="1911096"/>
            <a:ext cx="306324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>
                <a:solidFill>
                  <a:srgbClr val="111827"/>
                </a:solidFill>
                <a:latin typeface="Arial"/>
              </a:rPr>
              <a:t>Zero-cost public infra</a:t>
            </a:r>
            <a:r>
              <a:rPr sz="819">
                <a:solidFill>
                  <a:srgbClr val="111827"/>
                </a:solidFill>
                <a:latin typeface="Arial"/>
              </a:rPr>
              <a:t> via </a:t>
            </a:r>
            <a:r>
              <a:rPr sz="850" b="1">
                <a:solidFill>
                  <a:srgbClr val="111827"/>
                </a:solidFill>
                <a:latin typeface="Arial"/>
              </a:rPr>
              <a:t>OpenStreetMap / OSRM</a:t>
            </a:r>
            <a:r>
              <a:rPr sz="819">
                <a:solidFill>
                  <a:srgbClr val="111827"/>
                </a:solidFill>
                <a:latin typeface="Arial"/>
              </a:rPr>
              <a:t> &amp; UIDAI Offline e-KYC/Secure QR, eliminating commercial Google Maps and KYC API billing.</a:t>
            </a:r>
          </a:p>
        </p:txBody>
      </p:sp>
      <p:pic>
        <p:nvPicPr>
          <p:cNvPr id="35" name="Picture 34" descr="ai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70832" y="2560320"/>
            <a:ext cx="384048" cy="38404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828032" y="2523744"/>
            <a:ext cx="306324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>
                <a:solidFill>
                  <a:srgbClr val="111827"/>
                </a:solidFill>
                <a:latin typeface="Arial"/>
              </a:rPr>
              <a:t>In-process statistical AI engine</a:t>
            </a:r>
            <a:r>
              <a:rPr sz="819">
                <a:solidFill>
                  <a:srgbClr val="111827"/>
                </a:solidFill>
                <a:latin typeface="Arial"/>
              </a:rPr>
              <a:t> delivers 30-day demand forecasts locally with </a:t>
            </a:r>
            <a:r>
              <a:rPr sz="850" b="1">
                <a:solidFill>
                  <a:srgbClr val="111827"/>
                </a:solidFill>
                <a:latin typeface="Arial"/>
              </a:rPr>
              <a:t>zero external GPU or LLM token costs</a:t>
            </a:r>
            <a:r>
              <a:rPr sz="819">
                <a:solidFill>
                  <a:srgbClr val="111827"/>
                </a:solidFill>
                <a:latin typeface="Arial"/>
              </a:rPr>
              <a:t>.</a:t>
            </a:r>
          </a:p>
        </p:txBody>
      </p:sp>
      <p:pic>
        <p:nvPicPr>
          <p:cNvPr id="37" name="Picture 36" descr="modular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70832" y="3172968"/>
            <a:ext cx="384048" cy="38404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828032" y="3136392"/>
            <a:ext cx="306324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>
                <a:solidFill>
                  <a:srgbClr val="111827"/>
                </a:solidFill>
                <a:latin typeface="Arial"/>
              </a:rPr>
              <a:t>Provider Abstraction Architecture</a:t>
            </a:r>
            <a:r>
              <a:rPr sz="819">
                <a:solidFill>
                  <a:srgbClr val="111827"/>
                </a:solidFill>
                <a:latin typeface="Arial"/>
              </a:rPr>
              <a:t> allows </a:t>
            </a:r>
            <a:r>
              <a:rPr sz="850" b="1">
                <a:solidFill>
                  <a:srgbClr val="111827"/>
                </a:solidFill>
                <a:latin typeface="Arial"/>
              </a:rPr>
              <a:t>seamless plug-and-play migration</a:t>
            </a:r>
            <a:r>
              <a:rPr sz="819">
                <a:solidFill>
                  <a:srgbClr val="111827"/>
                </a:solidFill>
                <a:latin typeface="Arial"/>
              </a:rPr>
              <a:t> between zero-cost demo mocks and live production gateways.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92440" y="868680"/>
            <a:ext cx="3730752" cy="3063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092440" y="868680"/>
            <a:ext cx="3730752" cy="384048"/>
          </a:xfrm>
          <a:prstGeom prst="roundRect">
            <a:avLst/>
          </a:prstGeom>
          <a:solidFill>
            <a:srgbClr val="0062B1"/>
          </a:solidFill>
          <a:ln>
            <a:solidFill>
              <a:srgbClr val="006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Viability</a:t>
            </a:r>
          </a:p>
        </p:txBody>
      </p:sp>
      <p:pic>
        <p:nvPicPr>
          <p:cNvPr id="41" name="Picture 40" descr="marke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11312" y="1335024"/>
            <a:ext cx="384048" cy="38404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668512" y="1298448"/>
            <a:ext cx="306324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>
                <a:solidFill>
                  <a:srgbClr val="111827"/>
                </a:solidFill>
                <a:latin typeface="Arial"/>
              </a:rPr>
              <a:t>India's home services market to hit $35B by 2030</a:t>
            </a:r>
            <a:r>
              <a:rPr sz="819">
                <a:solidFill>
                  <a:srgbClr val="111827"/>
                </a:solidFill>
                <a:latin typeface="Arial"/>
              </a:rPr>
              <a:t>; over </a:t>
            </a:r>
            <a:r>
              <a:rPr sz="850" b="1">
                <a:solidFill>
                  <a:srgbClr val="111827"/>
                </a:solidFill>
                <a:latin typeface="Arial"/>
              </a:rPr>
              <a:t>90%+ unorganized technicians</a:t>
            </a:r>
            <a:r>
              <a:rPr sz="819">
                <a:solidFill>
                  <a:srgbClr val="111827"/>
                </a:solidFill>
                <a:latin typeface="Arial"/>
              </a:rPr>
              <a:t> ready for digital formalization.</a:t>
            </a:r>
          </a:p>
        </p:txBody>
      </p:sp>
      <p:pic>
        <p:nvPicPr>
          <p:cNvPr id="43" name="Picture 42" descr="earning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11312" y="1947672"/>
            <a:ext cx="384048" cy="384048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668512" y="1911096"/>
            <a:ext cx="306324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>
                <a:solidFill>
                  <a:srgbClr val="111827"/>
                </a:solidFill>
                <a:latin typeface="Arial"/>
              </a:rPr>
              <a:t>25%–35% higher take-home pay</a:t>
            </a:r>
            <a:r>
              <a:rPr sz="819">
                <a:solidFill>
                  <a:srgbClr val="111827"/>
                </a:solidFill>
                <a:latin typeface="Arial"/>
              </a:rPr>
              <a:t> via 0%–5% commission guarantees organic viral retention with </a:t>
            </a:r>
            <a:r>
              <a:rPr sz="850" b="1">
                <a:solidFill>
                  <a:srgbClr val="111827"/>
                </a:solidFill>
                <a:latin typeface="Arial"/>
              </a:rPr>
              <a:t>₹0 Customer Acquisition Cost (CAC)</a:t>
            </a:r>
            <a:r>
              <a:rPr sz="819">
                <a:solidFill>
                  <a:srgbClr val="111827"/>
                </a:solidFill>
                <a:latin typeface="Arial"/>
              </a:rPr>
              <a:t>.</a:t>
            </a:r>
          </a:p>
        </p:txBody>
      </p:sp>
      <p:pic>
        <p:nvPicPr>
          <p:cNvPr id="45" name="Picture 44" descr="policy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11312" y="2560320"/>
            <a:ext cx="384048" cy="38404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668512" y="2523744"/>
            <a:ext cx="306324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>
                <a:solidFill>
                  <a:srgbClr val="111827"/>
                </a:solidFill>
                <a:latin typeface="Arial"/>
              </a:rPr>
              <a:t>Direct National Policy Alignment</a:t>
            </a:r>
            <a:r>
              <a:rPr sz="819">
                <a:solidFill>
                  <a:srgbClr val="111827"/>
                </a:solidFill>
                <a:latin typeface="Arial"/>
              </a:rPr>
              <a:t> with </a:t>
            </a:r>
            <a:r>
              <a:rPr sz="850" b="1">
                <a:solidFill>
                  <a:srgbClr val="111827"/>
                </a:solidFill>
                <a:latin typeface="Arial"/>
              </a:rPr>
              <a:t>Code on Social Security 2020</a:t>
            </a:r>
            <a:r>
              <a:rPr sz="819">
                <a:solidFill>
                  <a:srgbClr val="111827"/>
                </a:solidFill>
                <a:latin typeface="Arial"/>
              </a:rPr>
              <a:t> and Ministry of Cooperation's 'Sahakar Se Samriddhi' framework.</a:t>
            </a:r>
          </a:p>
        </p:txBody>
      </p:sp>
      <p:pic>
        <p:nvPicPr>
          <p:cNvPr id="47" name="Picture 46" descr="vault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11312" y="3172968"/>
            <a:ext cx="384048" cy="38404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668512" y="3136392"/>
            <a:ext cx="306324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>
                <a:solidFill>
                  <a:srgbClr val="111827"/>
                </a:solidFill>
                <a:latin typeface="Arial"/>
              </a:rPr>
              <a:t>Self-sustaining Social Security Vaults</a:t>
            </a:r>
            <a:r>
              <a:rPr sz="819">
                <a:solidFill>
                  <a:srgbClr val="111827"/>
                </a:solidFill>
                <a:latin typeface="Arial"/>
              </a:rPr>
              <a:t>: automated </a:t>
            </a:r>
            <a:r>
              <a:rPr sz="850" b="1">
                <a:solidFill>
                  <a:srgbClr val="111827"/>
                </a:solidFill>
                <a:latin typeface="Arial"/>
              </a:rPr>
              <a:t>1% micro-deductions</a:t>
            </a:r>
            <a:r>
              <a:rPr sz="819">
                <a:solidFill>
                  <a:srgbClr val="111827"/>
                </a:solidFill>
                <a:latin typeface="Arial"/>
              </a:rPr>
              <a:t> fund worker health, pension, and insurance with zero fiscal debt.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251960" y="4041648"/>
            <a:ext cx="7571231" cy="25420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251960" y="4041648"/>
            <a:ext cx="7571231" cy="384048"/>
          </a:xfrm>
          <a:prstGeom prst="roundRect">
            <a:avLst/>
          </a:prstGeom>
          <a:solidFill>
            <a:srgbClr val="0062B1"/>
          </a:solidFill>
          <a:ln>
            <a:solidFill>
              <a:srgbClr val="006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Challenges and Mitigation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70832" y="44805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111827"/>
                </a:solidFill>
                <a:latin typeface="Arial"/>
              </a:defRPr>
            </a:pPr>
            <a:r>
              <a:t>Semi-literacy &amp; digital divide among gig workers</a:t>
            </a:r>
          </a:p>
        </p:txBody>
      </p:sp>
      <p:pic>
        <p:nvPicPr>
          <p:cNvPr id="52" name="Picture 51" descr="ch_lang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56832" y="4535424"/>
            <a:ext cx="292608" cy="292608"/>
          </a:xfrm>
          <a:prstGeom prst="rect">
            <a:avLst/>
          </a:prstGeom>
        </p:spPr>
      </p:pic>
      <p:sp>
        <p:nvSpPr>
          <p:cNvPr id="53" name="Right Arrow 52"/>
          <p:cNvSpPr/>
          <p:nvPr/>
        </p:nvSpPr>
        <p:spPr>
          <a:xfrm>
            <a:off x="7004304" y="4626864"/>
            <a:ext cx="347472" cy="109728"/>
          </a:xfrm>
          <a:prstGeom prst="rightArrow">
            <a:avLst/>
          </a:prstGeom>
          <a:solidFill>
            <a:srgbClr val="0062B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mit_voic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06640" y="4535424"/>
            <a:ext cx="292608" cy="292608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7790688" y="448056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19" b="1">
                <a:solidFill>
                  <a:srgbClr val="111827"/>
                </a:solidFill>
                <a:latin typeface="Arial"/>
              </a:rPr>
              <a:t>Trilingual Voice AI (Hindi, Marathi, English)</a:t>
            </a:r>
            <a:r>
              <a:rPr sz="800">
                <a:solidFill>
                  <a:srgbClr val="111827"/>
                </a:solidFill>
                <a:latin typeface="Arial"/>
              </a:rPr>
              <a:t> + 1-click icon dispatch and SMS fallback cuts onboarding friction by </a:t>
            </a:r>
            <a:r>
              <a:rPr sz="819" b="1">
                <a:solidFill>
                  <a:srgbClr val="111827"/>
                </a:solidFill>
                <a:latin typeface="Arial"/>
              </a:rPr>
              <a:t>60%</a:t>
            </a:r>
            <a:r>
              <a:rPr sz="800">
                <a:solidFill>
                  <a:srgbClr val="111827"/>
                </a:solidFill>
                <a:latin typeface="Arial"/>
              </a:rPr>
              <a:t>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70832" y="49834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111827"/>
                </a:solidFill>
                <a:latin typeface="Arial"/>
              </a:defRPr>
            </a:pPr>
            <a:r>
              <a:t>Doorstep trust &amp; customer safety concerns</a:t>
            </a:r>
          </a:p>
        </p:txBody>
      </p:sp>
      <p:pic>
        <p:nvPicPr>
          <p:cNvPr id="57" name="Picture 56" descr="ch_trust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56832" y="5038344"/>
            <a:ext cx="292608" cy="292608"/>
          </a:xfrm>
          <a:prstGeom prst="rect">
            <a:avLst/>
          </a:prstGeom>
        </p:spPr>
      </p:pic>
      <p:sp>
        <p:nvSpPr>
          <p:cNvPr id="58" name="Right Arrow 57"/>
          <p:cNvSpPr/>
          <p:nvPr/>
        </p:nvSpPr>
        <p:spPr>
          <a:xfrm>
            <a:off x="7004304" y="5129784"/>
            <a:ext cx="347472" cy="109728"/>
          </a:xfrm>
          <a:prstGeom prst="rightArrow">
            <a:avLst/>
          </a:prstGeom>
          <a:solidFill>
            <a:srgbClr val="0062B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mit_kyc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406640" y="5038344"/>
            <a:ext cx="292608" cy="292608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7790688" y="498348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19" b="1">
                <a:solidFill>
                  <a:srgbClr val="111827"/>
                </a:solidFill>
                <a:latin typeface="Arial"/>
              </a:rPr>
              <a:t>100% DigiLocker / Aadhaar KYC</a:t>
            </a:r>
            <a:r>
              <a:rPr sz="800">
                <a:solidFill>
                  <a:srgbClr val="111827"/>
                </a:solidFill>
                <a:latin typeface="Arial"/>
              </a:rPr>
              <a:t> + mandatory doorstep </a:t>
            </a:r>
            <a:r>
              <a:rPr sz="819" b="1">
                <a:solidFill>
                  <a:srgbClr val="111827"/>
                </a:solidFill>
                <a:latin typeface="Arial"/>
              </a:rPr>
              <a:t>4-digit arrival OTP handshake</a:t>
            </a:r>
            <a:r>
              <a:rPr sz="800">
                <a:solidFill>
                  <a:srgbClr val="111827"/>
                </a:solidFill>
                <a:latin typeface="Arial"/>
              </a:rPr>
              <a:t> ensures zero unauthorized visits.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70832" y="548640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111827"/>
                </a:solidFill>
                <a:latin typeface="Arial"/>
              </a:defRPr>
            </a:pPr>
            <a:r>
              <a:t>Platform sustainability on low 0%–5% cut</a:t>
            </a:r>
          </a:p>
        </p:txBody>
      </p:sp>
      <p:pic>
        <p:nvPicPr>
          <p:cNvPr id="62" name="Picture 61" descr="ch_margin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56832" y="5541264"/>
            <a:ext cx="292608" cy="292608"/>
          </a:xfrm>
          <a:prstGeom prst="rect">
            <a:avLst/>
          </a:prstGeom>
        </p:spPr>
      </p:pic>
      <p:sp>
        <p:nvSpPr>
          <p:cNvPr id="63" name="Right Arrow 62"/>
          <p:cNvSpPr/>
          <p:nvPr/>
        </p:nvSpPr>
        <p:spPr>
          <a:xfrm>
            <a:off x="7004304" y="5632704"/>
            <a:ext cx="347472" cy="109728"/>
          </a:xfrm>
          <a:prstGeom prst="rightArrow">
            <a:avLst/>
          </a:prstGeom>
          <a:solidFill>
            <a:srgbClr val="0062B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mit_stor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406640" y="5541264"/>
            <a:ext cx="292608" cy="292608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7790688" y="548640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19" b="1">
                <a:solidFill>
                  <a:srgbClr val="111827"/>
                </a:solidFill>
                <a:latin typeface="Arial"/>
              </a:rPr>
              <a:t>Co-op tool store wholesale margins (20–30% trade discount)</a:t>
            </a:r>
            <a:r>
              <a:rPr sz="800">
                <a:solidFill>
                  <a:srgbClr val="111827"/>
                </a:solidFill>
                <a:latin typeface="Arial"/>
              </a:rPr>
              <a:t> and society AMC contracts </a:t>
            </a:r>
            <a:r>
              <a:rPr sz="819" b="1">
                <a:solidFill>
                  <a:srgbClr val="111827"/>
                </a:solidFill>
                <a:latin typeface="Arial"/>
              </a:rPr>
              <a:t>cross-subsidize digital platform overhead</a:t>
            </a:r>
            <a:r>
              <a:rPr sz="800">
                <a:solidFill>
                  <a:srgbClr val="111827"/>
                </a:solidFill>
                <a:latin typeface="Arial"/>
              </a:rPr>
              <a:t>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70832" y="598932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111827"/>
                </a:solidFill>
                <a:latin typeface="Arial"/>
              </a:defRPr>
            </a:pPr>
            <a:r>
              <a:t>Weak rural / Tier-3 internet connectivity</a:t>
            </a:r>
          </a:p>
        </p:txBody>
      </p:sp>
      <p:pic>
        <p:nvPicPr>
          <p:cNvPr id="67" name="Picture 66" descr="ch_net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656832" y="6044184"/>
            <a:ext cx="292608" cy="292608"/>
          </a:xfrm>
          <a:prstGeom prst="rect">
            <a:avLst/>
          </a:prstGeom>
        </p:spPr>
      </p:pic>
      <p:sp>
        <p:nvSpPr>
          <p:cNvPr id="68" name="Right Arrow 67"/>
          <p:cNvSpPr/>
          <p:nvPr/>
        </p:nvSpPr>
        <p:spPr>
          <a:xfrm>
            <a:off x="7004304" y="6135624"/>
            <a:ext cx="347472" cy="109728"/>
          </a:xfrm>
          <a:prstGeom prst="rightArrow">
            <a:avLst/>
          </a:prstGeom>
          <a:solidFill>
            <a:srgbClr val="0062B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mit_pwa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406640" y="6044184"/>
            <a:ext cx="292608" cy="292608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7790688" y="598932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19" b="1">
                <a:solidFill>
                  <a:srgbClr val="111827"/>
                </a:solidFill>
                <a:latin typeface="Arial"/>
              </a:rPr>
              <a:t>Offline-first PWA caching</a:t>
            </a:r>
            <a:r>
              <a:rPr sz="800">
                <a:solidFill>
                  <a:srgbClr val="111827"/>
                </a:solidFill>
                <a:latin typeface="Arial"/>
              </a:rPr>
              <a:t> + lightweight Haversine radius search requires </a:t>
            </a:r>
            <a:r>
              <a:rPr sz="819" b="1">
                <a:solidFill>
                  <a:srgbClr val="111827"/>
                </a:solidFill>
                <a:latin typeface="Arial"/>
              </a:rPr>
              <a:t>&lt;50KB payload</a:t>
            </a:r>
            <a:r>
              <a:rPr sz="800">
                <a:solidFill>
                  <a:srgbClr val="111827"/>
                </a:solidFill>
                <a:latin typeface="Arial"/>
              </a:rPr>
              <a:t>, delivering 2x faster performance on 2G/3G.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